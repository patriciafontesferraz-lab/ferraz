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59" r:id="rId4"/>
    <p:sldId id="291" r:id="rId5"/>
    <p:sldId id="292" r:id="rId6"/>
    <p:sldId id="294" r:id="rId7"/>
    <p:sldId id="295" r:id="rId8"/>
    <p:sldId id="297" r:id="rId9"/>
    <p:sldId id="298" r:id="rId10"/>
    <p:sldId id="299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0A2F"/>
    <a:srgbClr val="A8E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76099-6E94-B389-693E-FE922056A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40EB57-EA03-19E9-87B4-1326D03F6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692F8B-847A-C0AE-875C-C3952799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30811-81D4-9229-6F04-9A1423E5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AA7000-E63E-05C0-8328-D7BC566E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31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1C599-A7DF-C14A-69D6-C1F7A0A9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63F7C-7848-2B7C-5D27-7123AE66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973CD9-7131-ACFD-DE28-6AEF7BC4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F05603-8619-967E-E83A-C79F5F0D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4B0CCA-43FF-0C8C-659E-C9C7D811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87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2D0A6-4C63-F135-0228-7B2160633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40A01B-F520-0944-72FD-C73737DB1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91942-BF24-6E65-3745-74C3FBD3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A45573-07EB-B414-14B6-21B77DD36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8E5E1-2210-326F-5B9D-B4140857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44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B8395-7F94-3966-C710-A4AD0126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EB90A-E45F-2FDF-1A47-1C84DA579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8EB80F-44EF-B0BC-D102-165E82CA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F33599-CD59-0DE1-062D-540EB540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1AFB15-3729-6C70-0FCC-1F9B0520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56ECC5-9BA8-4B38-9D33-D3A998C6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D7B48-7FE7-D5D1-75A9-BC646C12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C4FD5B-122D-B226-5698-CD18D54D3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166EF3-FFD5-03B1-AAE1-2A1D7820A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8E313B-A327-1542-852F-7F138D9F0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7C7568-D1DF-B680-22FD-234C5BF90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0DC36C-239F-F66F-0471-2BD48E06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CB3D7AC-94B4-B0F5-3AFF-E385F6B4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B43D194-1CA4-912D-AA1F-D24062AC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13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3F6DA-174D-6D23-78F2-2210D696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E87D7EF-C7CF-CCE8-4F7F-1D4C8CF3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FB11DB-974A-5773-33B9-1D6B5DF0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8015FA-0AD4-5D16-CBAC-D377AAB0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6E004C-DACB-18E0-8860-C7BD326B6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C851E0-163A-8819-E773-7BDBA4C1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EA376D-44AE-4D9C-609D-FA345A2B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87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EEA12-9768-1F1C-0695-D14A5DDC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5AF1B-3AEC-58E0-32F8-E82AF3E88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F41455-A5C8-F9D1-E202-DD27C3C8D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D8917F-4A39-6456-4110-EB43840C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5866F5-4896-B2CB-C802-D7181189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E9D5F5-5ED0-9649-512D-16941EBA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78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FA3A1-F8B3-B2D0-5F29-335EF9BA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7808E9-2685-7BEC-FA41-FCBD8EEC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4EF733-CCDB-08FF-14A1-03C357D0C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D0E848-9542-5612-CBB3-EE8D3EEA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B567CC-BF7E-898D-8008-C4D14D48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C9BD23-C548-2C71-A11C-71661FFB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75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F303B-A8EE-709A-4A59-384719AD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6AE5EE-43A5-DC1E-A554-A743B5CC5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4EA1AE-9426-A05F-F225-740906B4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54644C-DCD5-D2DB-C1C6-AD01DB24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0CDBF3-F67B-EF41-342B-0DA1CA3C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17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E41935-2984-0D9C-8471-DB136D64D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3BADF8-61EB-FCD4-8707-36A8A518D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A6D054-001B-56E4-FDCF-97F3AEEA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9A62DF-ACD7-7DAE-2B31-E3FFF06E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A2150A-D068-1E07-14F4-4F37AB2D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0813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4E13DE5-3E34-2983-543F-AE86F1E8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AE416F-B623-C9FF-F588-E1DD72C7F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B6A282-A623-4273-7173-0A65E4CA3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F43A1-F886-4761-B111-8498EEC25004}" type="datetimeFigureOut">
              <a:rPr lang="pt-BR" smtClean="0"/>
              <a:t>02/12/2024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3D5495-DDEE-709D-B0C5-4AB61CD42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FF3EDD-BC14-9458-F98B-4B60F754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5A607-B0D8-4711-A2A1-F0C5829586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62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5242B5D9-AB00-1540-6A6C-0029433B52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61" r="525"/>
          <a:stretch/>
        </p:blipFill>
        <p:spPr>
          <a:xfrm>
            <a:off x="0" y="13454"/>
            <a:ext cx="12192000" cy="684454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7994FB7-4C8F-19C6-5790-9BB5E9D28CC3}"/>
              </a:ext>
            </a:extLst>
          </p:cNvPr>
          <p:cNvSpPr txBox="1"/>
          <p:nvPr/>
        </p:nvSpPr>
        <p:spPr>
          <a:xfrm>
            <a:off x="9394058" y="4296848"/>
            <a:ext cx="3805480" cy="44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Projeto Lítio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85DA6E-055A-75E9-45AB-F37EBC7820C2}"/>
              </a:ext>
            </a:extLst>
          </p:cNvPr>
          <p:cNvSpPr txBox="1"/>
          <p:nvPr/>
        </p:nvSpPr>
        <p:spPr>
          <a:xfrm>
            <a:off x="8720252" y="4655532"/>
            <a:ext cx="4849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prstClr val="white"/>
                </a:solidFill>
                <a:latin typeface="Montserrat" panose="00000500000000000000" pitchFamily="2" charset="0"/>
              </a:rPr>
              <a:t>Estudo</a:t>
            </a:r>
            <a:r>
              <a:rPr lang="pt-BR" sz="3600" b="1" dirty="0">
                <a:solidFill>
                  <a:prstClr val="white"/>
                </a:solidFill>
                <a:latin typeface="Montserrat" panose="00000500000000000000" pitchFamily="2" charset="0"/>
              </a:rPr>
              <a:t> dos processos incidentes no imóvel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9" name="Imagem 1071051393" descr="Uma imagem contendo Texto&#10;&#10;Descrição gerada automaticamente">
            <a:extLst>
              <a:ext uri="{FF2B5EF4-FFF2-40B4-BE49-F238E27FC236}">
                <a16:creationId xmlns:a16="http://schemas.microsoft.com/office/drawing/2014/main" id="{F2FBF3F5-3B95-55AC-2C4D-A6680FBA4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639" y="209809"/>
            <a:ext cx="2029380" cy="1217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F31515D-EB69-A611-22B2-1402A89CBFC4}"/>
              </a:ext>
            </a:extLst>
          </p:cNvPr>
          <p:cNvSpPr txBox="1"/>
          <p:nvPr/>
        </p:nvSpPr>
        <p:spPr>
          <a:xfrm>
            <a:off x="175969" y="6489951"/>
            <a:ext cx="2354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Abril/24</a:t>
            </a:r>
          </a:p>
        </p:txBody>
      </p:sp>
    </p:spTree>
    <p:extLst>
      <p:ext uri="{BB962C8B-B14F-4D97-AF65-F5344CB8AC3E}">
        <p14:creationId xmlns:p14="http://schemas.microsoft.com/office/powerpoint/2010/main" val="181050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7183441" cy="82375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32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Gerenciamento dos Processos</a:t>
            </a:r>
            <a:endParaRPr sz="32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5897127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Processos Incidentes no Imóvel</a:t>
            </a:r>
            <a:endParaRPr sz="2400" b="1" dirty="0">
              <a:solidFill>
                <a:schemeClr val="bg1">
                  <a:lumMod val="6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3" name="Imagem 22" descr="Logotipo&#10;&#10;Descrição gerada automaticamente">
            <a:extLst>
              <a:ext uri="{FF2B5EF4-FFF2-40B4-BE49-F238E27FC236}">
                <a16:creationId xmlns:a16="http://schemas.microsoft.com/office/drawing/2014/main" id="{A3ADA174-731B-B4EF-9E84-C30A4D58C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74320" y="1481328"/>
            <a:ext cx="2218944" cy="4820030"/>
          </a:xfrm>
          <a:prstGeom prst="roundRect">
            <a:avLst>
              <a:gd name="adj" fmla="val 6000"/>
            </a:avLst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 Same Side Corner Rectangle 24"/>
          <p:cNvSpPr/>
          <p:nvPr/>
        </p:nvSpPr>
        <p:spPr>
          <a:xfrm>
            <a:off x="274320" y="1481328"/>
            <a:ext cx="2218944" cy="749808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74904" y="1572768"/>
            <a:ext cx="274320" cy="274320"/>
          </a:xfrm>
          <a:prstGeom prst="ellipse">
            <a:avLst/>
          </a:prstGeom>
          <a:solidFill>
            <a:srgbClr val="DBB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F0A2F"/>
                </a:solidFill>
                <a:latin typeface="Verdan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1572768"/>
            <a:ext cx="1679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Verdana"/>
              </a:rPr>
              <a:t>832.707/2013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" y="1883664"/>
            <a:ext cx="2017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BBE9F"/>
                </a:solidFill>
                <a:latin typeface="Verdana"/>
              </a:rPr>
              <a:t>Mineração Félix Ltda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" y="2340864"/>
            <a:ext cx="2017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8C8C8C"/>
                </a:solidFill>
                <a:latin typeface="Verdana"/>
              </a:rPr>
              <a:t>SITUAÇÃO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" y="2514600"/>
            <a:ext cx="201777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Verdana"/>
              </a:rPr>
              <a:t>Autorização de pesquisa, com recurso em análise sobre o equívoco na apresentação do RFP negativo.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" y="3300984"/>
            <a:ext cx="2109216" cy="2899790"/>
          </a:xfrm>
          <a:prstGeom prst="roundRect">
            <a:avLst>
              <a:gd name="adj" fmla="val 7000"/>
            </a:avLst>
          </a:prstGeom>
          <a:solidFill>
            <a:srgbClr val="F3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02336" y="3392424"/>
            <a:ext cx="1962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4F0A2F"/>
                </a:solidFill>
                <a:latin typeface="Verdana"/>
              </a:rPr>
              <a:t>ATUALIZAÇÃO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" y="35844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Verdana"/>
              </a:rPr>
              <a:t>10/08/2026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6464" y="3547872"/>
            <a:ext cx="93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F0A2F"/>
                </a:solidFill>
                <a:latin typeface="Verdana"/>
              </a:rPr>
              <a:t>RFP positivo apresentado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3904488"/>
            <a:ext cx="1962912" cy="225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F0A2F"/>
                </a:solidFill>
                <a:latin typeface="Verdana"/>
              </a:rPr>
              <a:t>Não consta publicação de que o recurso foi acatado. Mesmo assim, a empresa apresentou o relatório de pesquisa positivo.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30424" y="1481328"/>
            <a:ext cx="2218944" cy="4820030"/>
          </a:xfrm>
          <a:prstGeom prst="roundRect">
            <a:avLst>
              <a:gd name="adj" fmla="val 6000"/>
            </a:avLst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 Same Side Corner Rectangle 36"/>
          <p:cNvSpPr/>
          <p:nvPr/>
        </p:nvSpPr>
        <p:spPr>
          <a:xfrm>
            <a:off x="2630424" y="1481328"/>
            <a:ext cx="2218944" cy="749808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2731008" y="1572768"/>
            <a:ext cx="274320" cy="274320"/>
          </a:xfrm>
          <a:prstGeom prst="ellipse">
            <a:avLst/>
          </a:prstGeom>
          <a:solidFill>
            <a:srgbClr val="DBB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F0A2F"/>
                </a:solidFill>
                <a:latin typeface="Verdana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9336" y="1572768"/>
            <a:ext cx="1679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Verdana"/>
              </a:rPr>
              <a:t>830.833/2001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31008" y="1883664"/>
            <a:ext cx="2017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BBE9F"/>
                </a:solidFill>
                <a:latin typeface="Verdana"/>
              </a:rPr>
              <a:t>José Silva Lapa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31008" y="2340864"/>
            <a:ext cx="2017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8C8C8C"/>
                </a:solidFill>
                <a:latin typeface="Verdana"/>
              </a:rPr>
              <a:t>SITUAÇÃO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1008" y="2514600"/>
            <a:ext cx="201777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Verdana"/>
              </a:rPr>
              <a:t>Fase de requerimento de lavra.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85288" y="3300984"/>
            <a:ext cx="2109216" cy="1481328"/>
          </a:xfrm>
          <a:prstGeom prst="roundRect">
            <a:avLst>
              <a:gd name="adj" fmla="val 7000"/>
            </a:avLst>
          </a:prstGeom>
          <a:solidFill>
            <a:srgbClr val="F3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758440" y="3392424"/>
            <a:ext cx="1962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4F0A2F"/>
                </a:solidFill>
                <a:latin typeface="Verdana"/>
              </a:rPr>
              <a:t>ATUALIZAÇÃO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58440" y="35844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Verdana"/>
              </a:rPr>
              <a:t>24/08/2026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2568" y="3547872"/>
            <a:ext cx="93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F0A2F"/>
                </a:solidFill>
                <a:latin typeface="Verdana"/>
              </a:rPr>
              <a:t>Última movimentação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8440" y="3904488"/>
            <a:ext cx="196291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F0A2F"/>
                </a:solidFill>
                <a:latin typeface="Verdana"/>
              </a:rPr>
              <a:t>Aguardando aprovação da cessão total para NEOLIT MINERALS PARTICIPACOES LTDA.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85288" y="4873752"/>
            <a:ext cx="2109216" cy="132702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758440" y="4965192"/>
            <a:ext cx="1962912" cy="1235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>
                <a:solidFill>
                  <a:srgbClr val="4F0A2F"/>
                </a:solidFill>
                <a:latin typeface="Verdana"/>
              </a:rPr>
              <a:t>QUADRO SOCIETÁRIO – NEOLIT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Verdana"/>
              </a:rPr>
              <a:t>Lithium Ionic Holdings Corp.</a:t>
            </a:r>
          </a:p>
          <a:p>
            <a:pPr algn="l">
              <a:spcAft>
                <a:spcPts val="500"/>
              </a:spcAft>
            </a:pPr>
            <a:r>
              <a:rPr sz="750" b="0">
                <a:solidFill>
                  <a:srgbClr val="8C8C8C"/>
                </a:solidFill>
                <a:latin typeface="Verdana"/>
              </a:rPr>
              <a:t>Sócio · Repres. legal: Helio Botelho Diniz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Verdana"/>
              </a:rPr>
              <a:t>Helio Botelho Diniz</a:t>
            </a:r>
          </a:p>
          <a:p>
            <a:pPr algn="l">
              <a:spcAft>
                <a:spcPts val="500"/>
              </a:spcAft>
            </a:pPr>
            <a:r>
              <a:rPr sz="750" b="0">
                <a:solidFill>
                  <a:srgbClr val="8C8C8C"/>
                </a:solidFill>
                <a:latin typeface="Verdana"/>
              </a:rPr>
              <a:t>Administrador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Verdana"/>
              </a:rPr>
              <a:t>Thiago Aguiar Paes</a:t>
            </a:r>
          </a:p>
          <a:p>
            <a:pPr algn="l">
              <a:spcAft>
                <a:spcPts val="500"/>
              </a:spcAft>
            </a:pPr>
            <a:r>
              <a:rPr sz="750" b="0">
                <a:solidFill>
                  <a:srgbClr val="8C8C8C"/>
                </a:solidFill>
                <a:latin typeface="Verdana"/>
              </a:rPr>
              <a:t>Administrador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6528" y="1481328"/>
            <a:ext cx="2218944" cy="4820030"/>
          </a:xfrm>
          <a:prstGeom prst="roundRect">
            <a:avLst>
              <a:gd name="adj" fmla="val 6000"/>
            </a:avLst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 Same Side Corner Rectangle 50"/>
          <p:cNvSpPr/>
          <p:nvPr/>
        </p:nvSpPr>
        <p:spPr>
          <a:xfrm>
            <a:off x="4986528" y="1481328"/>
            <a:ext cx="2218944" cy="749808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5087112" y="1572768"/>
            <a:ext cx="274320" cy="274320"/>
          </a:xfrm>
          <a:prstGeom prst="ellipse">
            <a:avLst/>
          </a:prstGeom>
          <a:solidFill>
            <a:srgbClr val="DBB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F0A2F"/>
                </a:solidFill>
                <a:latin typeface="Verdana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5440" y="1572768"/>
            <a:ext cx="1679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Verdana"/>
              </a:rPr>
              <a:t>830.446/2018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87112" y="1883664"/>
            <a:ext cx="2017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BBE9F"/>
                </a:solidFill>
                <a:latin typeface="Verdana"/>
              </a:rPr>
              <a:t>Galvani Mineração e Participações Ltda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7112" y="2340864"/>
            <a:ext cx="2017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8C8C8C"/>
                </a:solidFill>
                <a:latin typeface="Verdana"/>
              </a:rPr>
              <a:t>SITUAÇÃO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87112" y="2514600"/>
            <a:ext cx="201777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Verdana"/>
              </a:rPr>
              <a:t>Relatório de pesquisa positivo apresentado em 02/10/2023.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41392" y="3300984"/>
            <a:ext cx="2109216" cy="2899790"/>
          </a:xfrm>
          <a:prstGeom prst="roundRect">
            <a:avLst>
              <a:gd name="adj" fmla="val 7000"/>
            </a:avLst>
          </a:prstGeom>
          <a:solidFill>
            <a:srgbClr val="F3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114544" y="3392424"/>
            <a:ext cx="1962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4F0A2F"/>
                </a:solidFill>
                <a:latin typeface="Verdana"/>
              </a:rPr>
              <a:t>ATUALIZAÇÃO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14544" y="35844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Verdana"/>
              </a:rPr>
              <a:t>06/08/2026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8672" y="3547872"/>
            <a:ext cx="93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F0A2F"/>
                </a:solidFill>
                <a:latin typeface="Verdana"/>
              </a:rPr>
              <a:t>Pedido de cessão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14544" y="3904488"/>
            <a:ext cx="1962912" cy="225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F0A2F"/>
                </a:solidFill>
                <a:latin typeface="Verdana"/>
              </a:rPr>
              <a:t>A Galvani está transferindo os direitos minerários do processo.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2632" y="1481328"/>
            <a:ext cx="2218944" cy="4820030"/>
          </a:xfrm>
          <a:prstGeom prst="roundRect">
            <a:avLst>
              <a:gd name="adj" fmla="val 6000"/>
            </a:avLst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 Same Side Corner Rectangle 62"/>
          <p:cNvSpPr/>
          <p:nvPr/>
        </p:nvSpPr>
        <p:spPr>
          <a:xfrm>
            <a:off x="7342632" y="1481328"/>
            <a:ext cx="2218944" cy="749808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7443216" y="1572768"/>
            <a:ext cx="274320" cy="274320"/>
          </a:xfrm>
          <a:prstGeom prst="ellipse">
            <a:avLst/>
          </a:prstGeom>
          <a:solidFill>
            <a:srgbClr val="DBB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F0A2F"/>
                </a:solidFill>
                <a:latin typeface="Verdana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81544" y="1572768"/>
            <a:ext cx="1679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Verdana"/>
              </a:rPr>
              <a:t>831.118/2008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216" y="1883664"/>
            <a:ext cx="2017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BBE9F"/>
                </a:solidFill>
                <a:latin typeface="Verdana"/>
              </a:rPr>
              <a:t>Mineração Salinas Ltda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43216" y="2340864"/>
            <a:ext cx="2017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8C8C8C"/>
                </a:solidFill>
                <a:latin typeface="Verdana"/>
              </a:rPr>
              <a:t>SITUAÇÃO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6" y="2514600"/>
            <a:ext cx="201777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Verdana"/>
              </a:rPr>
              <a:t>Fase de requerimento de lavra.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97496" y="3300984"/>
            <a:ext cx="2109216" cy="2899790"/>
          </a:xfrm>
          <a:prstGeom prst="roundRect">
            <a:avLst>
              <a:gd name="adj" fmla="val 7000"/>
            </a:avLst>
          </a:prstGeom>
          <a:solidFill>
            <a:srgbClr val="F3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470648" y="3392424"/>
            <a:ext cx="1962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4F0A2F"/>
                </a:solidFill>
                <a:latin typeface="Verdana"/>
              </a:rPr>
              <a:t>ATUALIZAÇÃO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70648" y="35844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Verdana"/>
              </a:rPr>
              <a:t>16/06/2026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94776" y="3547872"/>
            <a:ext cx="93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F0A2F"/>
                </a:solidFill>
                <a:latin typeface="Verdana"/>
              </a:rPr>
              <a:t>Protocolo de cessão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70648" y="3904488"/>
            <a:ext cx="1962912" cy="225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F0A2F"/>
                </a:solidFill>
                <a:latin typeface="Verdana"/>
              </a:rPr>
              <a:t>A Mineração Salinas também protocolizou a cessão dos direitos.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98736" y="1481328"/>
            <a:ext cx="2218944" cy="4820030"/>
          </a:xfrm>
          <a:prstGeom prst="roundRect">
            <a:avLst>
              <a:gd name="adj" fmla="val 6000"/>
            </a:avLst>
          </a:prstGeom>
          <a:solidFill>
            <a:srgbClr val="F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 Same Side Corner Rectangle 74"/>
          <p:cNvSpPr/>
          <p:nvPr/>
        </p:nvSpPr>
        <p:spPr>
          <a:xfrm>
            <a:off x="9698736" y="1481328"/>
            <a:ext cx="2218944" cy="749808"/>
          </a:xfrm>
          <a:prstGeom prst="round2SameRect">
            <a:avLst>
              <a:gd name="adj1" fmla="val 18000"/>
              <a:gd name="adj2" fmla="val 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799320" y="1572768"/>
            <a:ext cx="274320" cy="274320"/>
          </a:xfrm>
          <a:prstGeom prst="ellipse">
            <a:avLst/>
          </a:prstGeom>
          <a:solidFill>
            <a:srgbClr val="DBB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F0A2F"/>
                </a:solidFill>
                <a:latin typeface="Verdana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37648" y="1572768"/>
            <a:ext cx="1679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Verdana"/>
              </a:rPr>
              <a:t>833.881/2010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99320" y="1883664"/>
            <a:ext cx="2017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DBBE9F"/>
                </a:solidFill>
                <a:latin typeface="Verdana"/>
              </a:rPr>
              <a:t>Mineração Laje Ltda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99320" y="2340864"/>
            <a:ext cx="2017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8C8C8C"/>
                </a:solidFill>
                <a:latin typeface="Verdana"/>
              </a:rPr>
              <a:t>SITUAÇÃO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99320" y="2514600"/>
            <a:ext cx="201777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Verdana"/>
              </a:rPr>
              <a:t>Autorização de pesquisa, com RFP apresentado.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753600" y="3300984"/>
            <a:ext cx="2109216" cy="2899790"/>
          </a:xfrm>
          <a:prstGeom prst="roundRect">
            <a:avLst>
              <a:gd name="adj" fmla="val 7000"/>
            </a:avLst>
          </a:prstGeom>
          <a:solidFill>
            <a:srgbClr val="F3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826752" y="3392424"/>
            <a:ext cx="19629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4F0A2F"/>
                </a:solidFill>
                <a:latin typeface="Verdana"/>
              </a:rPr>
              <a:t>ATUALIZAÇÃO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26752" y="35844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4F0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Verdana"/>
              </a:rPr>
              <a:t>28/02/2025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50880" y="3547872"/>
            <a:ext cx="93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F0A2F"/>
                </a:solidFill>
                <a:latin typeface="Verdana"/>
              </a:rPr>
              <a:t>Protocolo de cessão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26752" y="3904488"/>
            <a:ext cx="1962912" cy="2259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F0A2F"/>
                </a:solidFill>
                <a:latin typeface="Verdana"/>
              </a:rPr>
              <a:t>A Mineração Laje também realizou o protocolo de cessão de direitos.</a:t>
            </a:r>
          </a:p>
        </p:txBody>
      </p:sp>
    </p:spTree>
    <p:extLst>
      <p:ext uri="{BB962C8B-B14F-4D97-AF65-F5344CB8AC3E}">
        <p14:creationId xmlns:p14="http://schemas.microsoft.com/office/powerpoint/2010/main" val="135480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832.707/2013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3864199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Mineração Félix Ltda</a:t>
            </a:r>
          </a:p>
        </p:txBody>
      </p:sp>
      <p:sp>
        <p:nvSpPr>
          <p:cNvPr id="12" name="Modelo de  apresentação">
            <a:extLst>
              <a:ext uri="{FF2B5EF4-FFF2-40B4-BE49-F238E27FC236}">
                <a16:creationId xmlns:a16="http://schemas.microsoft.com/office/drawing/2014/main" id="{173F9896-0040-6CA5-C0A0-CA43219FA5EA}"/>
              </a:ext>
            </a:extLst>
          </p:cNvPr>
          <p:cNvSpPr txBox="1"/>
          <p:nvPr/>
        </p:nvSpPr>
        <p:spPr>
          <a:xfrm>
            <a:off x="40131" y="1657914"/>
            <a:ext cx="4461420" cy="7438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Síntese do processo</a:t>
            </a:r>
            <a:endParaRPr sz="2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120483" y="27621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3" y="1280578"/>
            <a:ext cx="3996077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Área = 968,47 ha</a:t>
            </a:r>
            <a:endParaRPr sz="2400" b="1" dirty="0">
              <a:solidFill>
                <a:srgbClr val="A8E45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Modelo de  apresentação">
            <a:extLst>
              <a:ext uri="{FF2B5EF4-FFF2-40B4-BE49-F238E27FC236}">
                <a16:creationId xmlns:a16="http://schemas.microsoft.com/office/drawing/2014/main" id="{CA6B59AA-8EED-04DA-6DF2-A4339E75DD1A}"/>
              </a:ext>
            </a:extLst>
          </p:cNvPr>
          <p:cNvSpPr txBox="1"/>
          <p:nvPr/>
        </p:nvSpPr>
        <p:spPr>
          <a:xfrm>
            <a:off x="5646845" y="1498590"/>
            <a:ext cx="6424671" cy="111062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Substância do requerimento: </a:t>
            </a:r>
            <a:r>
              <a:rPr lang="pt-BR" sz="1400" b="1" u="sng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Granito. Porém durante vigência do alvará houve comunicação de ocorrência de outra substância mineral.</a:t>
            </a:r>
            <a:endParaRPr sz="1400" b="1" u="sng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488676" y="2532833"/>
            <a:ext cx="7405972" cy="411766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Titular entregou relatório final de pesquisa negativo em 02/12/2016;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 29/06/2017 a ANM negou a aprovação do relatório negativo. É de praxe da ANM não aprovar os relatórios negativos, para que o processo torne-se apto para disponibilidade;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Desde 2018 (seis meses após a publicação da ANM) o titular do processo vem tentando salvá-lo com a alegação de que o relatório negativo foi protocolizado equivocadamente. Justifica que o relatório positivo foi apresentado em outro processo de titularidade da empresa;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ANM em 16/11/2023 atendeu à solicitação do titular e irá analisar a questão do equívoco na entrega dos relatórios.</a:t>
            </a:r>
            <a:endParaRPr sz="12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6FC240F5-F007-BAB6-6F84-23798F43EFEC}"/>
              </a:ext>
            </a:extLst>
          </p:cNvPr>
          <p:cNvSpPr/>
          <p:nvPr/>
        </p:nvSpPr>
        <p:spPr>
          <a:xfrm>
            <a:off x="139363" y="3633796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7" name="Seta: Divisa 16">
            <a:extLst>
              <a:ext uri="{FF2B5EF4-FFF2-40B4-BE49-F238E27FC236}">
                <a16:creationId xmlns:a16="http://schemas.microsoft.com/office/drawing/2014/main" id="{1297E7AD-1BFB-AA8B-1828-EB51D765267B}"/>
              </a:ext>
            </a:extLst>
          </p:cNvPr>
          <p:cNvSpPr/>
          <p:nvPr/>
        </p:nvSpPr>
        <p:spPr>
          <a:xfrm>
            <a:off x="143606" y="46893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3" name="Seta: Divisa 22">
            <a:extLst>
              <a:ext uri="{FF2B5EF4-FFF2-40B4-BE49-F238E27FC236}">
                <a16:creationId xmlns:a16="http://schemas.microsoft.com/office/drawing/2014/main" id="{CAF3754A-F687-861D-EA99-4670CF2E517C}"/>
              </a:ext>
            </a:extLst>
          </p:cNvPr>
          <p:cNvSpPr/>
          <p:nvPr/>
        </p:nvSpPr>
        <p:spPr>
          <a:xfrm>
            <a:off x="120483" y="5948457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5CF50F9-0066-DF34-41F6-8E8CC1F36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77" y="2799586"/>
            <a:ext cx="4173817" cy="308800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96A5A50-B419-FBBA-0DE9-32C52D09703B}"/>
              </a:ext>
            </a:extLst>
          </p:cNvPr>
          <p:cNvSpPr txBox="1"/>
          <p:nvPr/>
        </p:nvSpPr>
        <p:spPr>
          <a:xfrm>
            <a:off x="8501844" y="5908699"/>
            <a:ext cx="4115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Imóvel e processo ANM 832.707/2013</a:t>
            </a:r>
          </a:p>
        </p:txBody>
      </p:sp>
      <p:sp>
        <p:nvSpPr>
          <p:cNvPr id="5" name="Modelo de  apresentação">
            <a:extLst>
              <a:ext uri="{FF2B5EF4-FFF2-40B4-BE49-F238E27FC236}">
                <a16:creationId xmlns:a16="http://schemas.microsoft.com/office/drawing/2014/main" id="{D2EA8066-68B0-E845-DA34-1A8460D9FCD1}"/>
              </a:ext>
            </a:extLst>
          </p:cNvPr>
          <p:cNvSpPr txBox="1"/>
          <p:nvPr/>
        </p:nvSpPr>
        <p:spPr>
          <a:xfrm>
            <a:off x="7894648" y="903421"/>
            <a:ext cx="3996077" cy="78745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Nenhuma alteração até 02/12/2024</a:t>
            </a:r>
            <a:endParaRPr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56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830.833/2001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2907847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José Silva Lapa</a:t>
            </a:r>
          </a:p>
        </p:txBody>
      </p:sp>
      <p:sp>
        <p:nvSpPr>
          <p:cNvPr id="12" name="Modelo de  apresentação">
            <a:extLst>
              <a:ext uri="{FF2B5EF4-FFF2-40B4-BE49-F238E27FC236}">
                <a16:creationId xmlns:a16="http://schemas.microsoft.com/office/drawing/2014/main" id="{173F9896-0040-6CA5-C0A0-CA43219FA5EA}"/>
              </a:ext>
            </a:extLst>
          </p:cNvPr>
          <p:cNvSpPr txBox="1"/>
          <p:nvPr/>
        </p:nvSpPr>
        <p:spPr>
          <a:xfrm>
            <a:off x="40131" y="1657914"/>
            <a:ext cx="4461420" cy="7438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Síntese do processo</a:t>
            </a:r>
            <a:endParaRPr sz="2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120483" y="27621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3" y="1280578"/>
            <a:ext cx="3996077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Área = 662,56 ha</a:t>
            </a:r>
            <a:endParaRPr sz="2400" b="1" dirty="0">
              <a:solidFill>
                <a:srgbClr val="A8E45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Modelo de  apresentação">
            <a:extLst>
              <a:ext uri="{FF2B5EF4-FFF2-40B4-BE49-F238E27FC236}">
                <a16:creationId xmlns:a16="http://schemas.microsoft.com/office/drawing/2014/main" id="{CA6B59AA-8EED-04DA-6DF2-A4339E75DD1A}"/>
              </a:ext>
            </a:extLst>
          </p:cNvPr>
          <p:cNvSpPr txBox="1"/>
          <p:nvPr/>
        </p:nvSpPr>
        <p:spPr>
          <a:xfrm>
            <a:off x="5646845" y="1498590"/>
            <a:ext cx="6424671" cy="111062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Substâncias do requerimento: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Kunzita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Turmalina,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Morganita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Hiddenita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b="1" u="sng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Espodumênio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Columbita, Quartzo, Água Marinha, feldspato e caulim.</a:t>
            </a:r>
            <a:endParaRPr sz="1400" b="1" u="sng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488676" y="2532833"/>
            <a:ext cx="7405972" cy="89844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Processo em fase de Requerimento de Lavra, com relatório de pesquisa aprovado com as seguintes reservas: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D74DEED-4F0B-981B-FE11-2428E4BE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8" y="3212031"/>
            <a:ext cx="6424671" cy="3198857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96A5A50-B419-FBBA-0DE9-32C52D09703B}"/>
              </a:ext>
            </a:extLst>
          </p:cNvPr>
          <p:cNvSpPr txBox="1"/>
          <p:nvPr/>
        </p:nvSpPr>
        <p:spPr>
          <a:xfrm>
            <a:off x="3644929" y="5331769"/>
            <a:ext cx="247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Dados extraídos da análise da ANM para aprovação do RFP.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86FCE99-187D-2594-4E85-7AF4CB7CA2B3}"/>
              </a:ext>
            </a:extLst>
          </p:cNvPr>
          <p:cNvCxnSpPr/>
          <p:nvPr/>
        </p:nvCxnSpPr>
        <p:spPr>
          <a:xfrm flipH="1">
            <a:off x="3644929" y="4443663"/>
            <a:ext cx="85044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odelo de  apresentação">
            <a:extLst>
              <a:ext uri="{FF2B5EF4-FFF2-40B4-BE49-F238E27FC236}">
                <a16:creationId xmlns:a16="http://schemas.microsoft.com/office/drawing/2014/main" id="{EAA4E339-D120-0494-CCC2-7ECF76482BBD}"/>
              </a:ext>
            </a:extLst>
          </p:cNvPr>
          <p:cNvSpPr txBox="1"/>
          <p:nvPr/>
        </p:nvSpPr>
        <p:spPr>
          <a:xfrm>
            <a:off x="7364469" y="3182403"/>
            <a:ext cx="4741491" cy="143378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 algn="just"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1.Exigência referente à cessão parcial do direito minerário publicada em 26/06/2024 e cumprida em 28/06/2024.</a:t>
            </a:r>
            <a:endParaRPr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odelo de  apresentação">
            <a:extLst>
              <a:ext uri="{FF2B5EF4-FFF2-40B4-BE49-F238E27FC236}">
                <a16:creationId xmlns:a16="http://schemas.microsoft.com/office/drawing/2014/main" id="{C03FA30D-C9E6-4F6B-9D40-63A46A1315DA}"/>
              </a:ext>
            </a:extLst>
          </p:cNvPr>
          <p:cNvSpPr txBox="1"/>
          <p:nvPr/>
        </p:nvSpPr>
        <p:spPr>
          <a:xfrm>
            <a:off x="7364470" y="4721366"/>
            <a:ext cx="4741491" cy="175695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 algn="just"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DESPACHO Nº 104694/DIOUT-MG/ANM/2024, informando que o processo de cessão parcial só será concluído após apuração de denúncia de lavra ilegal.</a:t>
            </a:r>
          </a:p>
        </p:txBody>
      </p:sp>
      <p:sp>
        <p:nvSpPr>
          <p:cNvPr id="14" name="Modelo de  apresentação">
            <a:extLst>
              <a:ext uri="{FF2B5EF4-FFF2-40B4-BE49-F238E27FC236}">
                <a16:creationId xmlns:a16="http://schemas.microsoft.com/office/drawing/2014/main" id="{6E288DDC-5312-3175-CCB2-E1358B2191E5}"/>
              </a:ext>
            </a:extLst>
          </p:cNvPr>
          <p:cNvSpPr txBox="1"/>
          <p:nvPr/>
        </p:nvSpPr>
        <p:spPr>
          <a:xfrm>
            <a:off x="8672712" y="2635858"/>
            <a:ext cx="3996077" cy="50423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6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Atualizações</a:t>
            </a:r>
            <a:endParaRPr sz="1600" b="1" dirty="0">
              <a:solidFill>
                <a:srgbClr val="A8E45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47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A696E024-4F25-AD1B-BE24-88CC56B9C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526" y="2723334"/>
            <a:ext cx="5125165" cy="331516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830.833/2001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2907847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José Silva Lapa</a:t>
            </a:r>
          </a:p>
        </p:txBody>
      </p:sp>
      <p:sp>
        <p:nvSpPr>
          <p:cNvPr id="12" name="Modelo de  apresentação">
            <a:extLst>
              <a:ext uri="{FF2B5EF4-FFF2-40B4-BE49-F238E27FC236}">
                <a16:creationId xmlns:a16="http://schemas.microsoft.com/office/drawing/2014/main" id="{173F9896-0040-6CA5-C0A0-CA43219FA5EA}"/>
              </a:ext>
            </a:extLst>
          </p:cNvPr>
          <p:cNvSpPr txBox="1"/>
          <p:nvPr/>
        </p:nvSpPr>
        <p:spPr>
          <a:xfrm>
            <a:off x="40131" y="1657914"/>
            <a:ext cx="4461420" cy="7438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Síntese do processo</a:t>
            </a:r>
            <a:endParaRPr sz="2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120483" y="27621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3" y="1280578"/>
            <a:ext cx="3996077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Área = 662,56 ha</a:t>
            </a:r>
          </a:p>
        </p:txBody>
      </p:sp>
      <p:sp>
        <p:nvSpPr>
          <p:cNvPr id="53" name="Modelo de  apresentação">
            <a:extLst>
              <a:ext uri="{FF2B5EF4-FFF2-40B4-BE49-F238E27FC236}">
                <a16:creationId xmlns:a16="http://schemas.microsoft.com/office/drawing/2014/main" id="{CA6B59AA-8EED-04DA-6DF2-A4339E75DD1A}"/>
              </a:ext>
            </a:extLst>
          </p:cNvPr>
          <p:cNvSpPr txBox="1"/>
          <p:nvPr/>
        </p:nvSpPr>
        <p:spPr>
          <a:xfrm>
            <a:off x="5646845" y="1498590"/>
            <a:ext cx="6424671" cy="111062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Substâncias do requerimento: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Kunzita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Turmalina,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Morganita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Hiddenita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b="1" u="sng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Espodumênio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Columbita, Quartzo, Água Marinha, feldspato e caulim.</a:t>
            </a:r>
            <a:endParaRPr sz="1400" b="1" u="sng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488676" y="2532833"/>
            <a:ext cx="5976292" cy="177561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Titular teve que reduzir a área, pois não realizou pesquisa mineral em toda extensão. Sendo assim, 292,34 hectares irão para edital de disponibilidade para pesquisa mineral, através do processo </a:t>
            </a:r>
            <a:r>
              <a:rPr lang="pt-BR" sz="1400" b="1" u="sng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301.354/2022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5AF7CF-B950-D0A2-9E52-628B33A3B239}"/>
              </a:ext>
            </a:extLst>
          </p:cNvPr>
          <p:cNvCxnSpPr/>
          <p:nvPr/>
        </p:nvCxnSpPr>
        <p:spPr>
          <a:xfrm flipV="1">
            <a:off x="6946232" y="4712042"/>
            <a:ext cx="602949" cy="103477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0DE2E6-C453-4A54-C398-380FAD562BD6}"/>
              </a:ext>
            </a:extLst>
          </p:cNvPr>
          <p:cNvSpPr txBox="1"/>
          <p:nvPr/>
        </p:nvSpPr>
        <p:spPr>
          <a:xfrm>
            <a:off x="6962274" y="432665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Disponibilidade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3EE1C-C106-BBD5-6873-ED5506021E73}"/>
              </a:ext>
            </a:extLst>
          </p:cNvPr>
          <p:cNvSpPr txBox="1"/>
          <p:nvPr/>
        </p:nvSpPr>
        <p:spPr>
          <a:xfrm>
            <a:off x="7581265" y="351820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830.833/2001</a:t>
            </a:r>
          </a:p>
        </p:txBody>
      </p:sp>
      <p:sp>
        <p:nvSpPr>
          <p:cNvPr id="20" name="Modelo de  apresentação">
            <a:extLst>
              <a:ext uri="{FF2B5EF4-FFF2-40B4-BE49-F238E27FC236}">
                <a16:creationId xmlns:a16="http://schemas.microsoft.com/office/drawing/2014/main" id="{C7E58F03-F901-1CB8-3CE8-ACCBE864BA1F}"/>
              </a:ext>
            </a:extLst>
          </p:cNvPr>
          <p:cNvSpPr txBox="1"/>
          <p:nvPr/>
        </p:nvSpPr>
        <p:spPr>
          <a:xfrm>
            <a:off x="431921" y="4134666"/>
            <a:ext cx="5976292" cy="117544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Titular cedeu 50,53 hectares do processo para a Mineração Salinas, substância </a:t>
            </a:r>
            <a:r>
              <a:rPr lang="pt-BR" sz="120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espodumênio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que originou o processo 830.080/2022.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Seta: Divisa 22">
            <a:extLst>
              <a:ext uri="{FF2B5EF4-FFF2-40B4-BE49-F238E27FC236}">
                <a16:creationId xmlns:a16="http://schemas.microsoft.com/office/drawing/2014/main" id="{C97EAFBD-13CD-9856-3C89-8757DB8324F5}"/>
              </a:ext>
            </a:extLst>
          </p:cNvPr>
          <p:cNvSpPr/>
          <p:nvPr/>
        </p:nvSpPr>
        <p:spPr>
          <a:xfrm>
            <a:off x="97397" y="4271301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3CDDA7D-8CEC-63D9-932D-E35423AC70B1}"/>
              </a:ext>
            </a:extLst>
          </p:cNvPr>
          <p:cNvSpPr txBox="1"/>
          <p:nvPr/>
        </p:nvSpPr>
        <p:spPr>
          <a:xfrm>
            <a:off x="8661536" y="44671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830.080/2022</a:t>
            </a:r>
          </a:p>
        </p:txBody>
      </p:sp>
    </p:spTree>
    <p:extLst>
      <p:ext uri="{BB962C8B-B14F-4D97-AF65-F5344CB8AC3E}">
        <p14:creationId xmlns:p14="http://schemas.microsoft.com/office/powerpoint/2010/main" val="270510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AD8E74E-B754-17FF-D68B-1E627474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71" y="1665087"/>
            <a:ext cx="7792537" cy="461074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830.833/2001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2907847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José Silva Lapa</a:t>
            </a: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2" y="1280578"/>
            <a:ext cx="6067411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Contatos dos titulares e RT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5AF7CF-B950-D0A2-9E52-628B33A3B239}"/>
              </a:ext>
            </a:extLst>
          </p:cNvPr>
          <p:cNvCxnSpPr/>
          <p:nvPr/>
        </p:nvCxnSpPr>
        <p:spPr>
          <a:xfrm flipV="1">
            <a:off x="6946232" y="4712042"/>
            <a:ext cx="602949" cy="103477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0DE2E6-C453-4A54-C398-380FAD562BD6}"/>
              </a:ext>
            </a:extLst>
          </p:cNvPr>
          <p:cNvSpPr txBox="1"/>
          <p:nvPr/>
        </p:nvSpPr>
        <p:spPr>
          <a:xfrm>
            <a:off x="6962274" y="432665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Disponibilidade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3EE1C-C106-BBD5-6873-ED5506021E73}"/>
              </a:ext>
            </a:extLst>
          </p:cNvPr>
          <p:cNvSpPr txBox="1"/>
          <p:nvPr/>
        </p:nvSpPr>
        <p:spPr>
          <a:xfrm>
            <a:off x="7581265" y="351820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830.833/2001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3CDDA7D-8CEC-63D9-932D-E35423AC70B1}"/>
              </a:ext>
            </a:extLst>
          </p:cNvPr>
          <p:cNvSpPr txBox="1"/>
          <p:nvPr/>
        </p:nvSpPr>
        <p:spPr>
          <a:xfrm>
            <a:off x="8661536" y="44671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830.080/2022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858C75-14AE-4948-7D94-AB4467FDF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7" y="2210695"/>
            <a:ext cx="4397394" cy="298435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8F0A26E-CA54-A813-CC86-8A5A9B21FFD2}"/>
              </a:ext>
            </a:extLst>
          </p:cNvPr>
          <p:cNvCxnSpPr/>
          <p:nvPr/>
        </p:nvCxnSpPr>
        <p:spPr>
          <a:xfrm flipH="1">
            <a:off x="11229474" y="2069432"/>
            <a:ext cx="282107" cy="5454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7D62CBED-2F88-9202-A5D2-E435F7CBF99E}"/>
              </a:ext>
            </a:extLst>
          </p:cNvPr>
          <p:cNvCxnSpPr/>
          <p:nvPr/>
        </p:nvCxnSpPr>
        <p:spPr>
          <a:xfrm flipH="1">
            <a:off x="10895915" y="3425027"/>
            <a:ext cx="282107" cy="5454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8843A790-B93F-4848-06D6-DCCE079A86EB}"/>
              </a:ext>
            </a:extLst>
          </p:cNvPr>
          <p:cNvCxnSpPr/>
          <p:nvPr/>
        </p:nvCxnSpPr>
        <p:spPr>
          <a:xfrm flipH="1">
            <a:off x="10971414" y="4398903"/>
            <a:ext cx="282107" cy="5454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17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830.446/2018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7168565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Galvani Mineração e Participações Ltda</a:t>
            </a:r>
          </a:p>
        </p:txBody>
      </p:sp>
      <p:sp>
        <p:nvSpPr>
          <p:cNvPr id="12" name="Modelo de  apresentação">
            <a:extLst>
              <a:ext uri="{FF2B5EF4-FFF2-40B4-BE49-F238E27FC236}">
                <a16:creationId xmlns:a16="http://schemas.microsoft.com/office/drawing/2014/main" id="{173F9896-0040-6CA5-C0A0-CA43219FA5EA}"/>
              </a:ext>
            </a:extLst>
          </p:cNvPr>
          <p:cNvSpPr txBox="1"/>
          <p:nvPr/>
        </p:nvSpPr>
        <p:spPr>
          <a:xfrm>
            <a:off x="40131" y="1657914"/>
            <a:ext cx="4461420" cy="7438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Síntese do processo</a:t>
            </a:r>
            <a:endParaRPr sz="2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120483" y="27621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3" y="1280578"/>
            <a:ext cx="3996077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Área = 687,44 ha</a:t>
            </a:r>
          </a:p>
        </p:txBody>
      </p:sp>
      <p:sp>
        <p:nvSpPr>
          <p:cNvPr id="53" name="Modelo de  apresentação">
            <a:extLst>
              <a:ext uri="{FF2B5EF4-FFF2-40B4-BE49-F238E27FC236}">
                <a16:creationId xmlns:a16="http://schemas.microsoft.com/office/drawing/2014/main" id="{CA6B59AA-8EED-04DA-6DF2-A4339E75DD1A}"/>
              </a:ext>
            </a:extLst>
          </p:cNvPr>
          <p:cNvSpPr txBox="1"/>
          <p:nvPr/>
        </p:nvSpPr>
        <p:spPr>
          <a:xfrm>
            <a:off x="5646845" y="1498590"/>
            <a:ext cx="6424671" cy="46429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Substâncias do requerimento: Granito.</a:t>
            </a:r>
            <a:endParaRPr sz="1400" b="1" u="sng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488676" y="2532833"/>
            <a:ext cx="5976292" cy="89844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Relatório de pesquisa positivo apresentado em 02/10/2023, aguardando aprovação. 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5AF7CF-B950-D0A2-9E52-628B33A3B239}"/>
              </a:ext>
            </a:extLst>
          </p:cNvPr>
          <p:cNvCxnSpPr/>
          <p:nvPr/>
        </p:nvCxnSpPr>
        <p:spPr>
          <a:xfrm flipV="1">
            <a:off x="6946232" y="4712042"/>
            <a:ext cx="602949" cy="103477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0DE2E6-C453-4A54-C398-380FAD562BD6}"/>
              </a:ext>
            </a:extLst>
          </p:cNvPr>
          <p:cNvSpPr txBox="1"/>
          <p:nvPr/>
        </p:nvSpPr>
        <p:spPr>
          <a:xfrm>
            <a:off x="6962274" y="432665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Disponibilidade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3EE1C-C106-BBD5-6873-ED5506021E73}"/>
              </a:ext>
            </a:extLst>
          </p:cNvPr>
          <p:cNvSpPr txBox="1"/>
          <p:nvPr/>
        </p:nvSpPr>
        <p:spPr>
          <a:xfrm>
            <a:off x="7581265" y="351820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830.833/2001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3CDDA7D-8CEC-63D9-932D-E35423AC70B1}"/>
              </a:ext>
            </a:extLst>
          </p:cNvPr>
          <p:cNvSpPr txBox="1"/>
          <p:nvPr/>
        </p:nvSpPr>
        <p:spPr>
          <a:xfrm>
            <a:off x="8661536" y="44671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830.080/2022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789410-2296-A3B3-4182-123F538C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09" y="2126904"/>
            <a:ext cx="4762330" cy="4135478"/>
          </a:xfrm>
          <a:prstGeom prst="rect">
            <a:avLst/>
          </a:prstGeom>
        </p:spPr>
      </p:pic>
      <p:sp>
        <p:nvSpPr>
          <p:cNvPr id="5" name="Modelo de  apresentação">
            <a:extLst>
              <a:ext uri="{FF2B5EF4-FFF2-40B4-BE49-F238E27FC236}">
                <a16:creationId xmlns:a16="http://schemas.microsoft.com/office/drawing/2014/main" id="{34578186-42E4-6D11-B5AC-FE2E875A1201}"/>
              </a:ext>
            </a:extLst>
          </p:cNvPr>
          <p:cNvSpPr txBox="1"/>
          <p:nvPr/>
        </p:nvSpPr>
        <p:spPr>
          <a:xfrm>
            <a:off x="175292" y="3781653"/>
            <a:ext cx="3996077" cy="78745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Nenhuma alteração até 02/12/2024</a:t>
            </a:r>
            <a:endParaRPr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0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830.446/2018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7168565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Galvani Mineração e Participações Ltda</a:t>
            </a: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237873" y="1586745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649441" y="1505454"/>
            <a:ext cx="5976292" cy="62145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Contato do titular e responsável técnico.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5AF7CF-B950-D0A2-9E52-628B33A3B239}"/>
              </a:ext>
            </a:extLst>
          </p:cNvPr>
          <p:cNvCxnSpPr/>
          <p:nvPr/>
        </p:nvCxnSpPr>
        <p:spPr>
          <a:xfrm flipV="1">
            <a:off x="6946232" y="4712042"/>
            <a:ext cx="602949" cy="103477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0DE2E6-C453-4A54-C398-380FAD562BD6}"/>
              </a:ext>
            </a:extLst>
          </p:cNvPr>
          <p:cNvSpPr txBox="1"/>
          <p:nvPr/>
        </p:nvSpPr>
        <p:spPr>
          <a:xfrm>
            <a:off x="6962274" y="432665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Disponibilidade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3EE1C-C106-BBD5-6873-ED5506021E73}"/>
              </a:ext>
            </a:extLst>
          </p:cNvPr>
          <p:cNvSpPr txBox="1"/>
          <p:nvPr/>
        </p:nvSpPr>
        <p:spPr>
          <a:xfrm>
            <a:off x="7581265" y="351820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830.833/2001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3CDDA7D-8CEC-63D9-932D-E35423AC70B1}"/>
              </a:ext>
            </a:extLst>
          </p:cNvPr>
          <p:cNvSpPr txBox="1"/>
          <p:nvPr/>
        </p:nvSpPr>
        <p:spPr>
          <a:xfrm>
            <a:off x="8661536" y="44671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830.080/2022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00B3B4-A1FC-75C9-8671-3AF2FDE3E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146" y="1361681"/>
            <a:ext cx="6471038" cy="49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6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>
            <a:extLst>
              <a:ext uri="{FF2B5EF4-FFF2-40B4-BE49-F238E27FC236}">
                <a16:creationId xmlns:a16="http://schemas.microsoft.com/office/drawing/2014/main" id="{22608ABD-214B-4DC1-0CB0-6FD5B72CE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32" y="1969169"/>
            <a:ext cx="4553585" cy="439163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831.118/2008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4295471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 err="1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Mineracao</a:t>
            </a:r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Salinas Ltda</a:t>
            </a:r>
          </a:p>
        </p:txBody>
      </p:sp>
      <p:sp>
        <p:nvSpPr>
          <p:cNvPr id="12" name="Modelo de  apresentação">
            <a:extLst>
              <a:ext uri="{FF2B5EF4-FFF2-40B4-BE49-F238E27FC236}">
                <a16:creationId xmlns:a16="http://schemas.microsoft.com/office/drawing/2014/main" id="{173F9896-0040-6CA5-C0A0-CA43219FA5EA}"/>
              </a:ext>
            </a:extLst>
          </p:cNvPr>
          <p:cNvSpPr txBox="1"/>
          <p:nvPr/>
        </p:nvSpPr>
        <p:spPr>
          <a:xfrm>
            <a:off x="40131" y="1657914"/>
            <a:ext cx="4461420" cy="7438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Síntese do processo</a:t>
            </a:r>
            <a:endParaRPr sz="2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120483" y="27621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3" y="1280578"/>
            <a:ext cx="3996077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Área = 469,89 ha</a:t>
            </a:r>
          </a:p>
        </p:txBody>
      </p:sp>
      <p:sp>
        <p:nvSpPr>
          <p:cNvPr id="53" name="Modelo de  apresentação">
            <a:extLst>
              <a:ext uri="{FF2B5EF4-FFF2-40B4-BE49-F238E27FC236}">
                <a16:creationId xmlns:a16="http://schemas.microsoft.com/office/drawing/2014/main" id="{CA6B59AA-8EED-04DA-6DF2-A4339E75DD1A}"/>
              </a:ext>
            </a:extLst>
          </p:cNvPr>
          <p:cNvSpPr txBox="1"/>
          <p:nvPr/>
        </p:nvSpPr>
        <p:spPr>
          <a:xfrm>
            <a:off x="5646845" y="1498590"/>
            <a:ext cx="6424671" cy="46429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Substâncias do requerimento: Quartzo</a:t>
            </a:r>
            <a:endParaRPr sz="1400" b="1" u="sng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488676" y="2532833"/>
            <a:ext cx="5976292" cy="172944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Processo em fase de requerimento de lavra.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12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Foi recomendado redução da área. Área descartada irá para edital de disponibilidade para pesquisa através do processo 300.916/2021.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8619DC2-92FD-BF4A-84D2-E57A7B2B9D9B}"/>
              </a:ext>
            </a:extLst>
          </p:cNvPr>
          <p:cNvSpPr txBox="1"/>
          <p:nvPr/>
        </p:nvSpPr>
        <p:spPr>
          <a:xfrm>
            <a:off x="9069247" y="521677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Disponibilidade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4225A55B-2831-2B63-98DF-6D92091BD158}"/>
              </a:ext>
            </a:extLst>
          </p:cNvPr>
          <p:cNvCxnSpPr>
            <a:cxnSpLocks/>
          </p:cNvCxnSpPr>
          <p:nvPr/>
        </p:nvCxnSpPr>
        <p:spPr>
          <a:xfrm flipV="1">
            <a:off x="8710863" y="5407236"/>
            <a:ext cx="371709" cy="778462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eta: Divisa 23">
            <a:extLst>
              <a:ext uri="{FF2B5EF4-FFF2-40B4-BE49-F238E27FC236}">
                <a16:creationId xmlns:a16="http://schemas.microsoft.com/office/drawing/2014/main" id="{9F43B09B-650E-AAB2-EE26-6C184189AFCE}"/>
              </a:ext>
            </a:extLst>
          </p:cNvPr>
          <p:cNvSpPr/>
          <p:nvPr/>
        </p:nvSpPr>
        <p:spPr>
          <a:xfrm>
            <a:off x="143975" y="3328003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Modelo de  apresentação">
            <a:extLst>
              <a:ext uri="{FF2B5EF4-FFF2-40B4-BE49-F238E27FC236}">
                <a16:creationId xmlns:a16="http://schemas.microsoft.com/office/drawing/2014/main" id="{4D64283E-D6E3-00DA-ACC9-352F3D9426B3}"/>
              </a:ext>
            </a:extLst>
          </p:cNvPr>
          <p:cNvSpPr txBox="1"/>
          <p:nvPr/>
        </p:nvSpPr>
        <p:spPr>
          <a:xfrm>
            <a:off x="175293" y="4330846"/>
            <a:ext cx="3996077" cy="78745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Nenhuma alteração até 02/12/2024</a:t>
            </a:r>
            <a:endParaRPr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924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CECE5F-6EEC-55E8-A2A7-8430E2412341}"/>
              </a:ext>
            </a:extLst>
          </p:cNvPr>
          <p:cNvSpPr/>
          <p:nvPr/>
        </p:nvSpPr>
        <p:spPr>
          <a:xfrm>
            <a:off x="0" y="0"/>
            <a:ext cx="7581265" cy="363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019EC8-E817-DA84-4EDF-7E98181B5F52}"/>
              </a:ext>
            </a:extLst>
          </p:cNvPr>
          <p:cNvSpPr/>
          <p:nvPr/>
        </p:nvSpPr>
        <p:spPr>
          <a:xfrm>
            <a:off x="6464968" y="0"/>
            <a:ext cx="5727032" cy="882316"/>
          </a:xfrm>
          <a:custGeom>
            <a:avLst/>
            <a:gdLst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0 w 4000500"/>
              <a:gd name="connsiteY3" fmla="*/ 800100 h 800100"/>
              <a:gd name="connsiteX4" fmla="*/ 0 w 4000500"/>
              <a:gd name="connsiteY4" fmla="*/ 0 h 800100"/>
              <a:gd name="connsiteX0" fmla="*/ 0 w 4000500"/>
              <a:gd name="connsiteY0" fmla="*/ 0 h 800100"/>
              <a:gd name="connsiteX1" fmla="*/ 4000500 w 4000500"/>
              <a:gd name="connsiteY1" fmla="*/ 0 h 800100"/>
              <a:gd name="connsiteX2" fmla="*/ 4000500 w 4000500"/>
              <a:gd name="connsiteY2" fmla="*/ 800100 h 800100"/>
              <a:gd name="connsiteX3" fmla="*/ 792480 w 4000500"/>
              <a:gd name="connsiteY3" fmla="*/ 800100 h 800100"/>
              <a:gd name="connsiteX4" fmla="*/ 0 w 400050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0" h="800100">
                <a:moveTo>
                  <a:pt x="0" y="0"/>
                </a:moveTo>
                <a:lnTo>
                  <a:pt x="4000500" y="0"/>
                </a:lnTo>
                <a:lnTo>
                  <a:pt x="4000500" y="800100"/>
                </a:lnTo>
                <a:lnTo>
                  <a:pt x="79248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F0A2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96819A-E708-4E22-4E1F-1A472CD1F756}"/>
              </a:ext>
            </a:extLst>
          </p:cNvPr>
          <p:cNvSpPr/>
          <p:nvPr/>
        </p:nvSpPr>
        <p:spPr>
          <a:xfrm rot="10800000">
            <a:off x="-1" y="6429374"/>
            <a:ext cx="12191998" cy="428625"/>
          </a:xfrm>
          <a:prstGeom prst="rect">
            <a:avLst/>
          </a:prstGeom>
          <a:solidFill>
            <a:srgbClr val="4F0A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39FEDF30-96D2-7B70-3C24-AD433BEA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47" y="45852"/>
            <a:ext cx="1227068" cy="765819"/>
          </a:xfrm>
          <a:prstGeom prst="rect">
            <a:avLst/>
          </a:prstGeom>
        </p:spPr>
      </p:pic>
      <p:sp>
        <p:nvSpPr>
          <p:cNvPr id="9" name="Modelo">
            <a:extLst>
              <a:ext uri="{FF2B5EF4-FFF2-40B4-BE49-F238E27FC236}">
                <a16:creationId xmlns:a16="http://schemas.microsoft.com/office/drawing/2014/main" id="{F60C262E-7F99-A79E-3316-AB42FC2E2E9F}"/>
              </a:ext>
            </a:extLst>
          </p:cNvPr>
          <p:cNvSpPr txBox="1"/>
          <p:nvPr/>
        </p:nvSpPr>
        <p:spPr>
          <a:xfrm>
            <a:off x="0" y="142455"/>
            <a:ext cx="4232634" cy="98353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ts val="114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4000" dirty="0">
                <a:solidFill>
                  <a:srgbClr val="4F0A2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833.881/2010</a:t>
            </a:r>
            <a:endParaRPr sz="4000" dirty="0">
              <a:solidFill>
                <a:srgbClr val="4F0A2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E867D0D-0E91-AE27-EFEA-74C1772234A4}"/>
              </a:ext>
            </a:extLst>
          </p:cNvPr>
          <p:cNvSpPr/>
          <p:nvPr/>
        </p:nvSpPr>
        <p:spPr>
          <a:xfrm>
            <a:off x="139363" y="1204278"/>
            <a:ext cx="2902088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1" name="Apresentações">
            <a:extLst>
              <a:ext uri="{FF2B5EF4-FFF2-40B4-BE49-F238E27FC236}">
                <a16:creationId xmlns:a16="http://schemas.microsoft.com/office/drawing/2014/main" id="{42699520-6096-91DD-B352-574A8E0E0670}"/>
              </a:ext>
            </a:extLst>
          </p:cNvPr>
          <p:cNvSpPr txBox="1"/>
          <p:nvPr/>
        </p:nvSpPr>
        <p:spPr>
          <a:xfrm>
            <a:off x="3041451" y="964213"/>
            <a:ext cx="3877023" cy="48012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lnSpc>
                <a:spcPct val="80000"/>
              </a:lnSpc>
              <a:defRPr sz="4400" spc="44">
                <a:solidFill>
                  <a:srgbClr val="A8E458"/>
                </a:solidFill>
                <a:latin typeface="Votorantim Sans Light"/>
                <a:ea typeface="Votorantim Sans Light"/>
                <a:cs typeface="Votorantim Sans Light"/>
                <a:sym typeface="Votorantim Sans Light"/>
              </a:defRPr>
            </a:lvl1pPr>
          </a:lstStyle>
          <a:p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2400" b="1" dirty="0" err="1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Mineracao</a:t>
            </a:r>
            <a:r>
              <a:rPr lang="pt-BR" sz="2400" b="1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Laje Ltda</a:t>
            </a:r>
          </a:p>
        </p:txBody>
      </p:sp>
      <p:sp>
        <p:nvSpPr>
          <p:cNvPr id="12" name="Modelo de  apresentação">
            <a:extLst>
              <a:ext uri="{FF2B5EF4-FFF2-40B4-BE49-F238E27FC236}">
                <a16:creationId xmlns:a16="http://schemas.microsoft.com/office/drawing/2014/main" id="{173F9896-0040-6CA5-C0A0-CA43219FA5EA}"/>
              </a:ext>
            </a:extLst>
          </p:cNvPr>
          <p:cNvSpPr txBox="1"/>
          <p:nvPr/>
        </p:nvSpPr>
        <p:spPr>
          <a:xfrm>
            <a:off x="40131" y="1657914"/>
            <a:ext cx="4461420" cy="7438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8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Síntese do processo</a:t>
            </a:r>
            <a:endParaRPr sz="2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eta: Divisa 20">
            <a:extLst>
              <a:ext uri="{FF2B5EF4-FFF2-40B4-BE49-F238E27FC236}">
                <a16:creationId xmlns:a16="http://schemas.microsoft.com/office/drawing/2014/main" id="{CFC6177C-9F5E-4041-FDE1-F434107CCB43}"/>
              </a:ext>
            </a:extLst>
          </p:cNvPr>
          <p:cNvSpPr/>
          <p:nvPr/>
        </p:nvSpPr>
        <p:spPr>
          <a:xfrm>
            <a:off x="120483" y="2762160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Modelo de  apresentação">
            <a:extLst>
              <a:ext uri="{FF2B5EF4-FFF2-40B4-BE49-F238E27FC236}">
                <a16:creationId xmlns:a16="http://schemas.microsoft.com/office/drawing/2014/main" id="{A6BA561F-2652-1FE6-8065-E2D1F7611D0B}"/>
              </a:ext>
            </a:extLst>
          </p:cNvPr>
          <p:cNvSpPr txBox="1"/>
          <p:nvPr/>
        </p:nvSpPr>
        <p:spPr>
          <a:xfrm>
            <a:off x="175293" y="1280578"/>
            <a:ext cx="3996077" cy="6639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2400" b="1" dirty="0">
                <a:solidFill>
                  <a:srgbClr val="A8E45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Área = 246,48 ha</a:t>
            </a:r>
          </a:p>
        </p:txBody>
      </p:sp>
      <p:sp>
        <p:nvSpPr>
          <p:cNvPr id="53" name="Modelo de  apresentação">
            <a:extLst>
              <a:ext uri="{FF2B5EF4-FFF2-40B4-BE49-F238E27FC236}">
                <a16:creationId xmlns:a16="http://schemas.microsoft.com/office/drawing/2014/main" id="{CA6B59AA-8EED-04DA-6DF2-A4339E75DD1A}"/>
              </a:ext>
            </a:extLst>
          </p:cNvPr>
          <p:cNvSpPr txBox="1"/>
          <p:nvPr/>
        </p:nvSpPr>
        <p:spPr>
          <a:xfrm>
            <a:off x="5646845" y="1498590"/>
            <a:ext cx="6424671" cy="46429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Substâncias do requerimento: Quartzo</a:t>
            </a:r>
            <a:endParaRPr sz="1400" b="1" u="sng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Modelo de  apresentação">
            <a:extLst>
              <a:ext uri="{FF2B5EF4-FFF2-40B4-BE49-F238E27FC236}">
                <a16:creationId xmlns:a16="http://schemas.microsoft.com/office/drawing/2014/main" id="{160CDC29-056A-2BF1-20F7-8A1110DAF061}"/>
              </a:ext>
            </a:extLst>
          </p:cNvPr>
          <p:cNvSpPr txBox="1"/>
          <p:nvPr/>
        </p:nvSpPr>
        <p:spPr>
          <a:xfrm>
            <a:off x="488676" y="2532833"/>
            <a:ext cx="5976292" cy="200644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Relatório de pesquisa positivo apresentado e aguardando aprovação.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12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Processo com Guia de Utilização, ou seja, teve ou ainda tem lavra experimental.</a:t>
            </a: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12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endParaRPr lang="pt-BR" sz="8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5AF7CF-B950-D0A2-9E52-628B33A3B239}"/>
              </a:ext>
            </a:extLst>
          </p:cNvPr>
          <p:cNvCxnSpPr/>
          <p:nvPr/>
        </p:nvCxnSpPr>
        <p:spPr>
          <a:xfrm flipV="1">
            <a:off x="6946232" y="4712042"/>
            <a:ext cx="602949" cy="103477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3EE1C-C106-BBD5-6873-ED5506021E73}"/>
              </a:ext>
            </a:extLst>
          </p:cNvPr>
          <p:cNvSpPr txBox="1"/>
          <p:nvPr/>
        </p:nvSpPr>
        <p:spPr>
          <a:xfrm>
            <a:off x="7581265" y="351820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830.833/2001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3CDDA7D-8CEC-63D9-932D-E35423AC70B1}"/>
              </a:ext>
            </a:extLst>
          </p:cNvPr>
          <p:cNvSpPr txBox="1"/>
          <p:nvPr/>
        </p:nvSpPr>
        <p:spPr>
          <a:xfrm>
            <a:off x="8661536" y="44671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830.080/2022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1C0E4F-7BF2-E4DA-6C87-65C13C50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033" y="2284744"/>
            <a:ext cx="4124901" cy="3705742"/>
          </a:xfrm>
          <a:prstGeom prst="rect">
            <a:avLst/>
          </a:prstGeom>
        </p:spPr>
      </p:pic>
      <p:sp>
        <p:nvSpPr>
          <p:cNvPr id="13" name="Seta: Divisa 12">
            <a:extLst>
              <a:ext uri="{FF2B5EF4-FFF2-40B4-BE49-F238E27FC236}">
                <a16:creationId xmlns:a16="http://schemas.microsoft.com/office/drawing/2014/main" id="{E835314A-453C-B66B-00F3-1F4ADB54A93A}"/>
              </a:ext>
            </a:extLst>
          </p:cNvPr>
          <p:cNvSpPr/>
          <p:nvPr/>
        </p:nvSpPr>
        <p:spPr>
          <a:xfrm>
            <a:off x="154532" y="3518204"/>
            <a:ext cx="300096" cy="300096"/>
          </a:xfrm>
          <a:prstGeom prst="chevron">
            <a:avLst/>
          </a:prstGeom>
          <a:solidFill>
            <a:srgbClr val="A8E458"/>
          </a:solidFill>
          <a:ln w="25400" cap="flat">
            <a:solidFill>
              <a:srgbClr val="A8E458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Modelo de  apresentação">
            <a:extLst>
              <a:ext uri="{FF2B5EF4-FFF2-40B4-BE49-F238E27FC236}">
                <a16:creationId xmlns:a16="http://schemas.microsoft.com/office/drawing/2014/main" id="{4ED7E4E6-E84E-B31D-26C6-A91E3896C817}"/>
              </a:ext>
            </a:extLst>
          </p:cNvPr>
          <p:cNvSpPr txBox="1"/>
          <p:nvPr/>
        </p:nvSpPr>
        <p:spPr>
          <a:xfrm>
            <a:off x="175293" y="4330846"/>
            <a:ext cx="3996077" cy="78745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>
              <a:lnSpc>
                <a:spcPct val="150000"/>
              </a:lnSpc>
              <a:defRPr sz="12200" spc="244">
                <a:solidFill>
                  <a:srgbClr val="0000B7"/>
                </a:solidFill>
                <a:latin typeface="Votorantim Sans Regular"/>
                <a:ea typeface="Votorantim Sans Regular"/>
                <a:cs typeface="Votorantim Sans Regular"/>
                <a:sym typeface="Votorantim Sans Regular"/>
              </a:defRPr>
            </a:pPr>
            <a:r>
              <a:rPr lang="pt-BR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Nenhuma alteração até 02/12/2024</a:t>
            </a:r>
            <a:endParaRPr sz="1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49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</TotalTime>
  <Words>535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FR Engenharia de Minas</dc:creator>
  <cp:lastModifiedBy>Patrícia Ferraz</cp:lastModifiedBy>
  <cp:revision>57</cp:revision>
  <dcterms:created xsi:type="dcterms:W3CDTF">2023-07-09T12:13:05Z</dcterms:created>
  <dcterms:modified xsi:type="dcterms:W3CDTF">2024-12-02T20:09:10Z</dcterms:modified>
</cp:coreProperties>
</file>